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Arial"/>
              </a:rPr>
              <a:t>Accuracy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DDDDD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DDD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56C-4B6F-B836-9E84F3E69F48}"/>
              </c:ext>
            </c:extLst>
          </c:dPt>
          <c:dPt>
            <c:idx val="1"/>
            <c:invertIfNegative val="0"/>
            <c:bubble3D val="0"/>
            <c:spPr>
              <a:solidFill>
                <a:srgbClr val="BBBB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56C-4B6F-B836-9E84F3E69F48}"/>
              </c:ext>
            </c:extLst>
          </c:dPt>
          <c:dPt>
            <c:idx val="2"/>
            <c:invertIfNegative val="0"/>
            <c:bubble3D val="0"/>
            <c:spPr>
              <a:solidFill>
                <a:srgbClr val="9999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56C-4B6F-B836-9E84F3E69F48}"/>
              </c:ext>
            </c:extLst>
          </c:dPt>
          <c:dPt>
            <c:idx val="3"/>
            <c:invertIfNegative val="0"/>
            <c:bubble3D val="0"/>
            <c:spPr>
              <a:solidFill>
                <a:srgbClr val="7777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56C-4B6F-B836-9E84F3E69F48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97.89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56C-4B6F-B836-9E84F3E69F4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96.57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56C-4B6F-B836-9E84F3E69F4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96.31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56C-4B6F-B836-9E84F3E69F4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96.01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56C-4B6F-B836-9E84F3E69F4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KNN</c:v>
                </c:pt>
                <c:pt idx="1">
                  <c:v>Log. Reg.</c:v>
                </c:pt>
                <c:pt idx="2">
                  <c:v>SVM</c:v>
                </c:pt>
                <c:pt idx="3">
                  <c:v>Rand. 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97.98</c:v>
                </c:pt>
                <c:pt idx="1">
                  <c:v>96.57</c:v>
                </c:pt>
                <c:pt idx="2">
                  <c:v>96.31</c:v>
                </c:pt>
                <c:pt idx="3">
                  <c:v>96.01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56C-4B6F-B836-9E84F3E69F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9"/>
          <c:min val="95"/>
        </c:scaling>
        <c:delete val="0"/>
        <c:axPos val="l"/>
        <c:majorGridlines>
          <c:spPr>
            <a:ln w="6350" cap="flat">
              <a:solidFill>
                <a:srgbClr val="5555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3A3A3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3A3A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9006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5029200" cy="5029200"/>
          </a:xfrm>
          <a:prstGeom prst="ellips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474720" cy="3474720"/>
          </a:xfrm>
          <a:prstGeom prst="ellipse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463040" cy="32004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</a:rPr>
              <a:t>MSc Project •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Recognition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HOG Features, Pixel Intensity &amp; SVM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 Gopal V — MSc Data Science &amp; Bio 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758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Anamika A — MSc Computer Science (Data Analytics)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9684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Ardra VS — MSc Data Analytics &amp; Computational Science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438912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0" y="4389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</a:rPr>
              <a:t>MNIST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</a:rPr>
              <a:t>70,000 Images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solving?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39496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Task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handwritten digits (0–9) from 28×28 grayscale images. Each image is classified into one of ten digit classes using machine learning.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234440"/>
            <a:ext cx="2743200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7220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7220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Bank Cheque Reading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7220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📮  Postal Code Sorting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 Digitization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3383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Form Data Entry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5394960" cy="73152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784 pixel values  →  CLASSIFY  →  OUTPUT: Digit (0–9)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5394960" cy="82296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749040"/>
            <a:ext cx="521208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via OpenML (Scikit-learn) — 70,000 images, 10 classes, 28×28 pixels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Exploration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— Structure &amp; Key Statistics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920240" cy="10972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  <a:effectLst>
            <a:outerShdw blurRad="635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234440"/>
            <a:ext cx="1920240" cy="10972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  <a:effectLst>
            <a:outerShdw blurRad="635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12984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0320" y="1828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1920240" cy="10972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  <a:effectLst>
            <a:outerShdw blurRad="635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2984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54880" y="1828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1234440"/>
            <a:ext cx="1920240" cy="10972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  <a:effectLst>
            <a:outerShdw blurRad="635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49440" y="12984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px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49440" y="1828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560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Details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4114800" cy="19202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 Intensity (784 values)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Scaling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(digits 0–9)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Multi-class Classification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754880" y="2560320"/>
            <a:ext cx="4023360" cy="2331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92040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 (Notebook)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9204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0936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49,000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635240" y="30632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89204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30936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635240" y="35661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89204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30936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14,000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635240" y="4069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Pipeline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machine learning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02920" cy="14630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digits 0–9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502920" cy="14630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32588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86200" y="1463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86200" y="1965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analysis,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502920" cy="14630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32588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20840" y="1463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20840" y="1965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+ Pixel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+ PCA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502920" cy="14630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3154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65760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KNN, Logistic Regression,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01752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91840" y="3017520"/>
            <a:ext cx="502920" cy="14630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0" y="301752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86200" y="3154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86200" y="365760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F1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301752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0" y="3017520"/>
            <a:ext cx="502920" cy="14630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26480" y="301752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20840" y="3154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20840" y="365760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• Pixel Intensity • Zernike Moments • PCA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Features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733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of Oriented Gradients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edge structure and shape information from each image cell. Output shape: (49000, 1296) — 1,296 gradient features per image.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1148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Intensity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6733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pixel values (784 features)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93852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28×28 image flattened to a 784-dimensional vector. Standard scaled for normalization before input to classifiers.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1148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Zernike Moments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3649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descriptors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63016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rotation-invariant moments describing image shape. Used alongside HOG for richer structural representation.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41148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3649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63016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features reduced to 100 principal components explaining 75.28% of variance. Final train shape: (49000, 100).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classifiers trained on HOG + PCA features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20116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5.55s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1.0 (tuned: C = 100)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n_neighbors =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4.97s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1.0, max_iter = 1000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9.25s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 = 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474720"/>
            <a:ext cx="841248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4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MNIST  →  2. Normalize pixels  →  3. Extract HOG  →  4. Apply PCA (100 components)  →  5. Fit classifiers  →  </a:t>
            </a: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Save .pkl models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Results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unseen test data — Accuracy · Precision · Recall · F1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870931517"/>
              </p:ext>
            </p:extLst>
          </p:nvPr>
        </p:nvGraphicFramePr>
        <p:xfrm>
          <a:off x="365760" y="123444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234440"/>
            <a:ext cx="2834640" cy="1463040"/>
          </a:xfrm>
          <a:prstGeom prst="rect">
            <a:avLst/>
          </a:prstGeom>
          <a:solidFill>
            <a:srgbClr val="444444"/>
          </a:solidFill>
          <a:ln w="12700">
            <a:solidFill>
              <a:srgbClr val="666666"/>
            </a:solidFill>
            <a:prstDash val="solid"/>
          </a:ln>
          <a:effectLst>
            <a:outerShdw blurRad="635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8076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Model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80760" y="16276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080760" y="2130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97.89% Accuracy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0" y="2926080"/>
            <a:ext cx="2834640" cy="50292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080760" y="2926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06640" y="2926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positive predictions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0" y="3493008"/>
            <a:ext cx="2834640" cy="50292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80760" y="34930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06640" y="34930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 captured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4059936"/>
            <a:ext cx="2834640" cy="502920"/>
          </a:xfrm>
          <a:prstGeom prst="rect">
            <a:avLst/>
          </a:prstGeom>
          <a:solidFill>
            <a:srgbClr val="3A3A3A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80760" y="405993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406640" y="405993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 &amp; 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 — Live Predictions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https://handwritten-digit-recognition-duk.streamlit.app/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11480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Image Upload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9572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PNG / JPG handwritten digit images for instant classification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411480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2029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Model Choice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39572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KNN, SVM, Logistic Regression and Random Forest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411480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447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Image Preview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81304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processed (normalized) image used for prediction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337560"/>
            <a:ext cx="411480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3447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Real-time Results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81304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digit classification with model confidence output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5080D4-1C31-8F7C-CB7F-FCBB7E89C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67" y="221705"/>
            <a:ext cx="8881065" cy="470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406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" cy="6858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3167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led with 97.98% accuracy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1848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models exceeded 96% — a strong baseline for handwritten digit recognition.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11480" cy="6858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18541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features proved highly effective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4871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edge and shape structure from digit images significantly boosted classifier performance.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11480" cy="6858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0540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improved efficiency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35584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1,296 HOG features to 100 principal components (75.28% variance) cut training time with negligible accuracy loss.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411480" cy="6858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88620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92277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deployed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2245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enables real-time predictions with selectable models — accessible from any browser.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anamikaa0818-hash / Handwritten-Digit-Recognition-Using-HOG-Pixel-Intensity-and-SVM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677</Words>
  <Application>Microsoft Office PowerPoint</Application>
  <PresentationFormat>On-screen Show (16:9)</PresentationFormat>
  <Paragraphs>169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Handwritten Digit Recognition</dc:title>
  <dc:subject>PptxGenJS Presentation</dc:subject>
  <dc:creator>PptxGenJS</dc:creator>
  <cp:lastModifiedBy>Anamika A</cp:lastModifiedBy>
  <cp:revision>4</cp:revision>
  <dcterms:created xsi:type="dcterms:W3CDTF">2026-05-05T05:56:25Z</dcterms:created>
  <dcterms:modified xsi:type="dcterms:W3CDTF">2026-05-05T06:10:05Z</dcterms:modified>
</cp:coreProperties>
</file>